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VCM — Voice Controlled Smart Device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CB3F0"/>
                </a:solidFill>
                <a:latin typeface="Calibri"/>
              </a:defRPr>
            </a:pPr>
            <a:r>
              <a:t>Always-on keyword + intent recognition at the edge · no cloud round-trip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33856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15 October 2026 · ⟨fill: author / team⟩ · Model · Dataset · Training on MPS · Validation on RPi 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5486400" cy="2212848"/>
          </a:xfrm>
          <a:prstGeom prst="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486400" cy="3108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00200"/>
            <a:ext cx="52669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Model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956816"/>
          <a:ext cx="521208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291840"/>
              </a:tblGrid>
              <a:tr h="3017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Item</a:t>
                      </a:r>
                    </a:p>
                  </a:txBody>
                  <a:tcPr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marT="18288" marB="18288">
                    <a:solidFill>
                      <a:srgbClr val="2563E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Parameters / weights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0.367 M · ~1.6 MB ONNX (CRNN)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Topology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depthwise-separable CNN trunk → BiGRU(128), 37 fine / 20 intent dual head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Compute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62.78 M FLOPs / inference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+ wake gate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0.249 M-param CNN, 1.0 MB (“Hello Jarvis”)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Runtime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onnxruntime (CPUExecutionProvider) · 2 thr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199632" y="1572768"/>
            <a:ext cx="5486400" cy="2212848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572768"/>
            <a:ext cx="5486400" cy="3108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52669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Dataset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36792" y="1956816"/>
          <a:ext cx="521208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840480"/>
              </a:tblGrid>
              <a:tr h="3017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Item</a:t>
                      </a:r>
                    </a:p>
                  </a:txBody>
                  <a:tcPr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marT="18288" marB="18288">
                    <a:solidFill>
                      <a:srgbClr val="2563E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HF airimonda/ai231-me2-voice-commands (+4 corpora)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Hours / utts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17.3 h / 29,836 train · 6,305 test · 463 holdout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Speakers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664 (speaker-disjoint splits)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Labels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20 intents · 37 fine (slot) labels · OOS class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Splits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train / val / test disjoint · 6 sources merged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02920" y="3877056"/>
            <a:ext cx="5486400" cy="2212848"/>
          </a:xfrm>
          <a:prstGeom prst="rect">
            <a:avLst/>
          </a:prstGeom>
          <a:solidFill>
            <a:srgbClr val="FFFFFF"/>
          </a:solidFill>
          <a:ln w="1587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877056"/>
            <a:ext cx="5486400" cy="310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904488"/>
            <a:ext cx="52669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Training on Apple MPS (local Mac)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0080" y="4261104"/>
          <a:ext cx="521208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657600"/>
              </a:tblGrid>
              <a:tr h="3017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Item</a:t>
                      </a:r>
                    </a:p>
                  </a:txBody>
                  <a:tcPr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marT="18288" marB="18288">
                    <a:solidFill>
                      <a:srgbClr val="2563E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Hardware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Apple M-series · torch MPS backend · device=mps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Objective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CE(fine) + 0.5·CE(intent) · dual-head CRNN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Optimiser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AdamW wd 1e-4 · lr 1e-3 cosine · batch 128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Steps / loss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60 epochs · seed 42 · ~2.5 h wall-clock (MPS)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Input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16 kHz → log-mel 40×96 · z-scored · energy-norm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6199632" y="3877056"/>
            <a:ext cx="5486400" cy="2212848"/>
          </a:xfrm>
          <a:prstGeom prst="rect">
            <a:avLst/>
          </a:prstGeom>
          <a:solidFill>
            <a:srgbClr val="FFFFFF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3877056"/>
            <a:ext cx="5486400" cy="3108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904488"/>
            <a:ext cx="52669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Validation on the Raspberry Pi 4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336792" y="4261104"/>
          <a:ext cx="521208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291840"/>
              </a:tblGrid>
              <a:tr h="3017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Item</a:t>
                      </a:r>
                    </a:p>
                  </a:txBody>
                  <a:tcPr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marT="18288" marB="18288">
                    <a:solidFill>
                      <a:srgbClr val="2563E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Keyword / intent acc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100 % wake (5,000 clips) · 91.6 % intent (CRNN, test split)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False-accept rate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0.13 % wake FAR · 26.1 % FAR_oos @ 0.25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Latency p95 / RTF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9.36 ms classify · 4.85 ms wake (measured on-Pi) · RTF 0.006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Live sessions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Oct 15: 247 wakes · 94 % recognized · 63 % acted ok · Oct 16 retrained gate: 9/10 fired · 0 false fires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Runtime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onnxruntime · 2 threads (swept 1/2/4)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02920" y="619963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73952"/>
            <a:ext cx="11155680" cy="310896"/>
          </a:xfrm>
          <a:prstGeom prst="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1A2332"/>
                </a:solidFill>
                <a:latin typeface="Calibri"/>
              </a:defRPr>
            </a:pPr>
            <a:r>
              <a:t>Mic 16 kHz  ──▶  wake CNN (0.249 M)  ──▶  log-mel 40×96  ──▶  CRNN 0.367 M (depthwise-separable CNN trunk → BiGRU)  ──▶  intent head + slot head  ──▶  dispatcher  ──▶  actuator (LEDs / music / timer / TTS)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A2332"/>
                </a:solidFill>
                <a:latin typeface="Calibri"/>
              </a:defRPr>
            </a:pPr>
            <a:r>
              <a:t>To Be Submitted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What the reviewer will look for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5568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206240"/>
                <a:gridCol w="6492240"/>
              </a:tblGrid>
              <a:tr h="4023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Item</a:t>
                      </a:r>
                    </a:p>
                  </a:txBody>
                  <a:tcPr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T="18288" marB="18288"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Repo public, one-command reproduction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✅ setup.sh + run.sh — verified on the Pi, 2026-10-03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Dataset licensed and citable (DOI)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✅ HF dataset → citable DOI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Training logs + final checkpoint committed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✅ train_crnn.jsonl · crnn.pt · onnx/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Pi 4 latency reproduced by the posted script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✅ perf.py bench/wake · p95 9.36 ms VCM · 4.85 ms wake (100+100)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Held-out test set, unseen speakers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✅ test 6,305 + holdout 463, speaker-disjoint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Single deployed model disclosed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✅ CRNN 0.367 M VCM + jarvis wake CNN — no other model trained or presented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3434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A2332"/>
                </a:solidFill>
                <a:latin typeface="Calibri"/>
              </a:defRPr>
            </a:pPr>
            <a:r>
              <a:t>Links &amp; artefacts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475488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778240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Artefact</a:t>
                      </a:r>
                    </a:p>
                  </a:txBody>
                  <a:tcPr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Where</a:t>
                      </a:r>
                    </a:p>
                  </a:txBody>
                  <a:tcPr marT="18288" marB="18288"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GitHub repository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⟨fill: org/repo⟩ — public, MIT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Dataset location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huggingface.co/datasets/airimonda/ai231-me2-voice-commands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Training hardware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Apple M-series MPS (local Mac) · 60 epochs · seed 42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Model weights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2332"/>
                          </a:solidFill>
                          <a:latin typeface="Calibri"/>
                        </a:defRPr>
                      </a:pPr>
                      <a:r>
                        <a:t>crnn.pt + crnn.onnx (~1.6 MB) · jarvis_cnn.onnx (1.0 MB)</a:t>
                      </a:r>
                    </a:p>
                  </a:txBody>
                  <a:tcPr marT="18288" marB="1828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Demo: say “Hello Jarvis” → command → action · spoken answers in the Jarvis voice (Piper en_GB-alan)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