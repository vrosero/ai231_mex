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VCM — Tiny Voice Command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9CB3F0"/>
                </a:solidFill>
                <a:latin typeface="Calibri"/>
              </a:defRPr>
            </a:pPr>
            <a:r>
              <a:t>"Hello Jarvis" wake gate  ·  CRNN command classifier  ·  real actions on a Raspberry Pi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defRPr sz="1500" b="0">
                <a:solidFill>
                  <a:srgbClr val="CBD5E1"/>
                </a:solidFill>
                <a:latin typeface="Calibri"/>
              </a:defRPr>
            </a:pPr>
            <a:r>
              <a:t>AI 231 · MEx 2 — real-world VCM demo</a:t>
            </a:r>
          </a:p>
          <a:p>
            <a:pPr algn="l">
              <a:lnSpc>
                <a:spcPct val="135000"/>
              </a:lnSpc>
              <a:defRPr sz="1500" b="0">
                <a:solidFill>
                  <a:srgbClr val="CBD5E1"/>
                </a:solidFill>
                <a:latin typeface="Calibri"/>
              </a:defRPr>
            </a:pPr>
            <a:r>
              <a:t>Raspberry Pi 4 (4 GB) · ReSpeaker 2-Mics HAT · USB speaker (only two devices)</a:t>
            </a:r>
          </a:p>
          <a:p>
            <a:pPr algn="l">
              <a:lnSpc>
                <a:spcPct val="135000"/>
              </a:lnSpc>
              <a:defRPr sz="1500" b="0">
                <a:solidFill>
                  <a:srgbClr val="CBD5E1"/>
                </a:solidFill>
                <a:latin typeface="Calibri"/>
              </a:defRPr>
            </a:pPr>
            <a:r>
              <a:t>Standalone: no cloud models · no LLM · no ASR — pure VCM, commands 1–10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What this project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 tiny, standalone voice assistant — everything on-device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076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2064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1A2332"/>
                </a:solidFill>
                <a:latin typeface="Calibri"/>
              </a:defRPr>
            </a:pPr>
            <a:r>
              <a:t>• Listens continuously for "Hello Jarvis" (249 k-param CNN gate) — LEDs blink cyan on wake</a:t>
            </a:r>
          </a:p>
          <a:p>
            <a:pPr>
              <a:spcAft>
                <a:spcPts val="600"/>
              </a:spcAft>
              <a:defRPr sz="1450">
                <a:solidFill>
                  <a:srgbClr val="1A2332"/>
                </a:solidFill>
                <a:latin typeface="Calibri"/>
              </a:defRPr>
            </a:pPr>
            <a:r>
              <a:t>• Classifies the command with a 0.367 M-param CRNN → 37 fine labels / 20 intents — no transcription</a:t>
            </a:r>
          </a:p>
          <a:p>
            <a:pPr>
              <a:spcAft>
                <a:spcPts val="600"/>
              </a:spcAft>
              <a:defRPr sz="1450">
                <a:solidFill>
                  <a:srgbClr val="1A2332"/>
                </a:solidFill>
                <a:latin typeface="Calibri"/>
              </a:defRPr>
            </a:pPr>
            <a:r>
              <a:t>• Executes real actions: ReSpeaker LEDs (the lights), mp3 music, per-slot timer chimes, weather, time — plus spoken Piper-TTS answers (the "Jarvis" voice)</a:t>
            </a:r>
          </a:p>
          <a:p>
            <a:pPr>
              <a:spcAft>
                <a:spcPts val="600"/>
              </a:spcAft>
              <a:defRPr sz="1450">
                <a:solidFill>
                  <a:srgbClr val="1A2332"/>
                </a:solidFill>
                <a:latin typeface="Calibri"/>
              </a:defRPr>
            </a:pPr>
            <a:r>
              <a:t>• LEDs: blink = listening · steady green = executing · off = done / not recognized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Meeting the professor's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tiny · real-time on RPi · standalone · no LLM · no ASR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743200" cy="1463040"/>
          </a:xfrm>
          <a:prstGeom prst="rect">
            <a:avLst/>
          </a:prstGeom>
          <a:solidFill>
            <a:srgbClr val="EEF2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/>
          <a:lstStyle/>
          <a:p>
            <a:pPr algn="ctr">
              <a:defRPr sz="2600" b="1">
                <a:solidFill>
                  <a:srgbClr val="059669"/>
                </a:solidFill>
              </a:defRPr>
            </a:pPr>
            <a:r>
              <a:t>0.367 M</a:t>
            </a:r>
          </a:p>
          <a:p>
            <a:pPr>
              <a:defRPr sz="1150">
                <a:solidFill>
                  <a:srgbClr val="1A2332"/>
                </a:solidFill>
              </a:defRPr>
            </a:pPr>
            <a:r>
              <a:t>parameters (command model)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0712" y="1463040"/>
            <a:ext cx="2743200" cy="1463040"/>
          </a:xfrm>
          <a:prstGeom prst="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62.78 M</a:t>
            </a:r>
          </a:p>
          <a:p>
            <a:pPr>
              <a:defRPr sz="1150">
                <a:solidFill>
                  <a:srgbClr val="1A2332"/>
                </a:solidFill>
              </a:defRPr>
            </a:pPr>
            <a:r>
              <a:t>FLOPs /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18504" y="1463040"/>
            <a:ext cx="2743200" cy="1463040"/>
          </a:xfrm>
          <a:prstGeom prst="rect">
            <a:avLst/>
          </a:prstGeom>
          <a:solidFill>
            <a:srgbClr val="EEF2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/>
          <a:lstStyle/>
          <a:p>
            <a:pPr algn="ctr">
              <a:defRPr sz="2600" b="1">
                <a:solidFill>
                  <a:srgbClr val="7C3AED"/>
                </a:solidFill>
              </a:defRPr>
            </a:pPr>
            <a:r>
              <a:t>~1.6 MB</a:t>
            </a:r>
          </a:p>
          <a:p>
            <a:pPr>
              <a:defRPr sz="1150">
                <a:solidFill>
                  <a:srgbClr val="1A2332"/>
                </a:solidFill>
              </a:defRPr>
            </a:pPr>
            <a:r>
              <a:t>ONNX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9226296" y="1463040"/>
            <a:ext cx="2743200" cy="1463040"/>
          </a:xfrm>
          <a:prstGeom prst="rect">
            <a:avLst/>
          </a:prstGeom>
          <a:solidFill>
            <a:srgbClr val="EEF2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/>
          <a:lstStyle/>
          <a:p>
            <a:pPr algn="ctr">
              <a:defRPr sz="2600" b="1">
                <a:solidFill>
                  <a:srgbClr val="059669"/>
                </a:solidFill>
              </a:defRPr>
            </a:pPr>
            <a:r>
              <a:t>9.36 ms</a:t>
            </a:r>
          </a:p>
          <a:p>
            <a:pPr>
              <a:defRPr sz="1150">
                <a:solidFill>
                  <a:srgbClr val="1A2332"/>
                </a:solidFill>
              </a:defRPr>
            </a:pPr>
            <a:r>
              <a:t>Pi 4 latency (measured)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291840"/>
          <a:ext cx="111556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863840"/>
              </a:tblGrid>
              <a:tr h="47548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Constraint</a:t>
                      </a:r>
                    </a:p>
                  </a:txBody>
                  <a:tcPr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is met</a:t>
                      </a:r>
                    </a:p>
                  </a:txBody>
                  <a:tcPr marT="27432" marB="27432"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Standalone / no cloud models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Wake CNN + CRNN run locally via onnxruntime; network only for one action (keyless Open-Meteo weather) — never a model call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No LLM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Fixed 37-label classifier; spoken answers are template sentences, not generated text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No full ASR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Audio → log-mel → intent/fine label directly; no audio→text stage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Real-time on RPi 4/5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62.78 M FLOPs → 9.36 ms p95 measured on a Pi 4 CPU — under 1% of the 1 s frame budget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Genuinely tiny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0.367 M params (~1.6 MB ONNX) + 0.249 M-param wake gate; &lt;120 MB RSS idle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Dataset — 36,604 clips · 37 fine / 20 intents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HF ai231-me2-voice-commands + supplementals · speaker-disjoint</a:t>
            </a:r>
          </a:p>
        </p:txBody>
      </p:sp>
      <p:pic>
        <p:nvPicPr>
          <p:cNvPr id="5" name="Picture 4" descr="fig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006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35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Train 29,836 / Test 6,305 / Holdout 463 (21.0 h) — speaker-disjoint. Supplemental merge (synth by voice_split + fil50 persona bank + 1,250 synthetic negatives) levels the skew: COLOR 3,014 → PAUSE 743 (4.1×). Numerals excluded.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Model — PiCommandCRNN (deployed)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depthwise-separable CNN trunk → BiGRU, dual head: 37 fine + 20 intent</a:t>
            </a:r>
          </a:p>
        </p:txBody>
      </p:sp>
      <p:pic>
        <p:nvPicPr>
          <p:cNvPr id="5" name="Picture 4" descr="fig_cr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3698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9496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332"/>
                </a:solidFill>
                <a:latin typeface="Calibri"/>
              </a:defRPr>
            </a:pPr>
            <a:r>
              <a:t>• Loss = CE(fine) + 0.5·CE(intent) — fine head carries the slot, intent head the action group</a:t>
            </a:r>
          </a:p>
          <a:p>
            <a:pPr>
              <a:spcAft>
                <a:spcPts val="600"/>
              </a:spcAft>
              <a:defRPr sz="1400">
                <a:solidFill>
                  <a:srgbClr val="1A2332"/>
                </a:solidFill>
                <a:latin typeface="Calibri"/>
              </a:defRPr>
            </a:pPr>
            <a:r>
              <a:t>• Recipe: AdamW wd 1e-4 · lr 1e-3 cosine · batch 128 · label smoothing 0.05 · dropout 0.35 · seed 42 · 60 epochs on Apple MPS</a:t>
            </a:r>
          </a:p>
          <a:p>
            <a:pPr>
              <a:spcAft>
                <a:spcPts val="600"/>
              </a:spcAft>
              <a:defRPr sz="1400">
                <a:solidFill>
                  <a:srgbClr val="1A2332"/>
                </a:solidFill>
                <a:latin typeface="Calibri"/>
              </a:defRPr>
            </a:pPr>
            <a:r>
              <a:t>• The trunk pools 40×96 → 5×12 before the BiGRU: temporal modelling costs 12 steps × 192 dims — 62.78 M FLOPs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Results — deployed CRNN (test n = 6,305)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one model, speaker-disjoint evaluation</a:t>
            </a:r>
          </a:p>
        </p:txBody>
      </p:sp>
      <p:pic>
        <p:nvPicPr>
          <p:cNvPr id="5" name="Picture 4" descr="fi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863840" cy="338026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595360" y="1554480"/>
          <a:ext cx="3108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</a:tblGrid>
              <a:tr h="38404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T="27432" marB="27432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Intent acc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91.6 %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Intent mF1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90.3 %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Fine acc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87.4 %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Holdout intent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88.6 %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40233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332"/>
                </a:solidFill>
                <a:latin typeface="Calibri"/>
              </a:defRPr>
            </a:pPr>
            <a:r>
              <a:t>• speaker-disjoint test + holdout — no clip seen twice</a:t>
            </a:r>
          </a:p>
          <a:p>
            <a:pPr>
              <a:spcAft>
                <a:spcPts val="600"/>
              </a:spcAft>
              <a:defRPr sz="1250">
                <a:solidFill>
                  <a:srgbClr val="1A2332"/>
                </a:solidFill>
                <a:latin typeface="Calibri"/>
              </a:defRPr>
            </a:pPr>
            <a:r>
              <a:t>• OOS recall 0.739 · FAR_oos 0.261 @ min_conf 0.25</a:t>
            </a:r>
          </a:p>
          <a:p>
            <a:pPr>
              <a:spcAft>
                <a:spcPts val="600"/>
              </a:spcAft>
              <a:defRPr sz="1250">
                <a:solidFill>
                  <a:srgbClr val="1A2332"/>
                </a:solidFill>
                <a:latin typeface="Calibri"/>
              </a:defRPr>
            </a:pPr>
            <a:r>
              <a:t>• real-voice OOS remains the honest weak 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Efficiency — why it is tiny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62.78 M FLOPs · real-time headroom</a:t>
            </a:r>
          </a:p>
        </p:txBody>
      </p:sp>
      <p:pic>
        <p:nvPicPr>
          <p:cNvPr id="5" name="Picture 4" descr="fig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285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949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332"/>
                </a:solidFill>
                <a:latin typeface="Calibri"/>
              </a:defRPr>
            </a:pPr>
            <a:r>
              <a:t>• Total resident model footprint (command + wake): ~2.6 MB weights; whole assistant &lt; 120 MB RSS idle</a:t>
            </a:r>
          </a:p>
          <a:p>
            <a:pPr>
              <a:spcAft>
                <a:spcPts val="600"/>
              </a:spcAft>
              <a:defRPr sz="1400">
                <a:solidFill>
                  <a:srgbClr val="1A2332"/>
                </a:solidFill>
                <a:latin typeface="Calibri"/>
              </a:defRPr>
            </a:pPr>
            <a:r>
              <a:t>• Always-on cost ≈ 0: RMS pre-gate discards silence; wake CNN scores only while the voiced latch is open</a:t>
            </a:r>
          </a:p>
          <a:p>
            <a:pPr>
              <a:spcAft>
                <a:spcPts val="600"/>
              </a:spcAft>
              <a:defRPr sz="1400">
                <a:solidFill>
                  <a:srgbClr val="1A2332"/>
                </a:solidFill>
                <a:latin typeface="Calibri"/>
              </a:defRPr>
            </a:pPr>
            <a:r>
              <a:t>• ONNX Runtime CPU is the only ML dependency on the Pi — no PyTorch, no librosa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Wake word — "Hello Jarvis"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Kaggle jarvis-wake-word-dataset + 122 real recordings + 694 real-room negatives · 5,816 clips</a:t>
            </a:r>
          </a:p>
        </p:txBody>
      </p:sp>
      <p:pic>
        <p:nvPicPr>
          <p:cNvPr id="5" name="Picture 4" descr="fig_wake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573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436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Deployed wake model (1200 synthetic + 122 real positives, 694 real-room negatives, source-disjoint split): AUC 0.9975 · real-room negative max 0.065 vs threshold 0.99 · live on the Pi: retrained weights 9/10 spoken attempts fired · 0 false fires (Oct 16, evidence/logs_live_20261016.log); original weights 10/10 real clips fired (scores 0.994–0.999) · 0 false fires on 200 noise frames (Oct 15).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Runtime &amp; demo — the 8 build items, verified on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LED language + all 37 labels dispatched</a:t>
            </a:r>
          </a:p>
        </p:txBody>
      </p:sp>
      <p:pic>
        <p:nvPicPr>
          <p:cNvPr id="5" name="Picture 4" descr="fig_l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3545464"/>
          </a:xfrm>
          <a:prstGeom prst="rect">
            <a:avLst/>
          </a:prstGeom>
        </p:spPr>
      </p:pic>
      <p:pic>
        <p:nvPicPr>
          <p:cNvPr id="6" name="Picture 5" descr="fig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041648"/>
            <a:ext cx="5252085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How to set up on the RPi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one-time install (left) → per-demo-day routine (right)</a:t>
            </a:r>
          </a:p>
        </p:txBody>
      </p:sp>
      <p:pic>
        <p:nvPicPr>
          <p:cNvPr id="5" name="Picture 4" descr="fig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48753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B7280"/>
                </a:solidFill>
                <a:latin typeface="Calibri"/>
              </a:defRPr>
            </a:pPr>
            <a:r>
              <a:t>Full command-by-command guide: report section 08_rpi_setup.md — Wi-Fi switching, SPI/LEDs, config, troubleshooting.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Verification on hardware — and 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Raspberry Pi 4 · ReSpeaker 2-Mics HAT · USB speaker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035040"/>
                <a:gridCol w="3291840"/>
              </a:tblGrid>
              <a:tr h="38404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T="27432" marB="27432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Mic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ReSpeaker capture (hw rejects 12 kHz → 16 k + decimate)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verified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Wake gate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10 real clips streamed through the gate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9/10 fire · 0 false fires on 200 noise frames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LEDs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blink → steady → off cycle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APA102 GPIO bitbang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Lights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ReSpeaker LEDs on/off/brightness/colour (no bulb)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dispatcher wired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Music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play/stop/next (ffplay fallback)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audible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TTS answers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Piper en_GB-alan: TIME/WEATHER real; ALARM/TEMP/REMINDERS simulated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spoken end-to-end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Full loop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mic → wake → classify → dispatch → LEDs → spoken answer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end-to-end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1206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A2332"/>
                </a:solidFill>
                <a:latin typeface="Calibri"/>
              </a:defRPr>
            </a:pPr>
            <a:r>
              <a:t>• Honest limit: real-voice OOS clips still mis-accepted (synthetic negatives taught kinds, not the domain); min_conf 0.25 fails safe</a:t>
            </a:r>
          </a:p>
          <a:p>
            <a:pPr>
              <a:spcAft>
                <a:spcPts val="600"/>
              </a:spcAft>
              <a:defRPr sz="1350">
                <a:solidFill>
                  <a:srgbClr val="1A2332"/>
                </a:solidFill>
                <a:latin typeface="Calibri"/>
              </a:defRPr>
            </a:pPr>
            <a:r>
              <a:t>• Wake model trained on TTS data → live-mic threshold tuning recommended before the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Deliverable checklist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4241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4572000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T="27432" marB="27432"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Build a dataset to train VCMs (collective)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HF dataset + supplementals · 36,604 clips / 21.0 h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Build and train a VCM (individual)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CRNN 0.367 M (the deployed model)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Design a benchmark for validating VCMs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speaker-disjoint splits · intent + fine + macro-F1 + per-intent recall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Validate the performance of your VCM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CRNN test 91.6 % intent · holdout 88.6 % · OOS/FAR analysis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Build a real-world demo on RPi4/5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full loop verified on hardware (two devices only)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VCM must be tiny, real-time on RPi4/5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0.367 M params · 62.78 M FLOPs · 9.36 ms p95 measured on Pi 4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Standalone — no cloud models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all inference on-device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No LLM, no ASR — pure VCM, commands 1–10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37-label classifier + dispatcher + TTS answers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B3F0"/>
                </a:solidFill>
                <a:latin typeface="Calibri"/>
              </a:defRPr>
            </a:pPr>
            <a:r>
              <a:t>Run it:  bash run.sh   ·   spoken answers in the Jarvis voice (Piper en_GB-alan)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