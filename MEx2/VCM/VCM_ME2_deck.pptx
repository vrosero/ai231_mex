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11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5718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ME2 VCM — Voice Controlled Smart Device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keyword + intent recognition at the edge · no cloud round-trip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October 2026 · El Veena Grace Rosero · Model · Dataset · Training on Apple MPS · Validation on RPi 4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937760" cy="329184"/>
          </a:xfrm>
          <a:prstGeom prst="roundRect">
            <a:avLst>
              <a:gd name="adj" fmla="val 16667"/>
            </a:avLst>
          </a:prstGeom>
          <a:solidFill>
            <a:srgbClr val="E8EEF8"/>
          </a:solidFill>
          <a:ln w="12700">
            <a:solidFill>
              <a:srgbClr val="8FA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· 16kHz → wake CNN → log-mel 40×96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67128"/>
            <a:ext cx="4937760" cy="329184"/>
          </a:xfrm>
          <a:prstGeom prst="roundRect">
            <a:avLst>
              <a:gd name="adj" fmla="val 16667"/>
            </a:avLst>
          </a:prstGeom>
          <a:solidFill>
            <a:srgbClr val="DFF1E6"/>
          </a:solidFill>
          <a:ln w="12700">
            <a:solidFill>
              <a:srgbClr val="4CA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7200" y="216712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DS-CNN trunk → BiGRU(128) · 0.367 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51176"/>
            <a:ext cx="2423160" cy="329184"/>
          </a:xfrm>
          <a:prstGeom prst="roundRect">
            <a:avLst>
              <a:gd name="adj" fmla="val 16667"/>
            </a:avLst>
          </a:prstGeom>
          <a:solidFill>
            <a:srgbClr val="FDF0DC"/>
          </a:solidFill>
          <a:ln w="12700">
            <a:solidFill>
              <a:srgbClr val="D9A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7200" y="255117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head · 20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71800" y="2551176"/>
            <a:ext cx="2423160" cy="329184"/>
          </a:xfrm>
          <a:prstGeom prst="roundRect">
            <a:avLst>
              <a:gd name="adj" fmla="val 16667"/>
            </a:avLst>
          </a:prstGeom>
          <a:solidFill>
            <a:srgbClr val="FDF0DC"/>
          </a:solidFill>
          <a:ln w="12700">
            <a:solidFill>
              <a:srgbClr val="D9A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2971800" y="255117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(fine) head · 37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935224"/>
            <a:ext cx="2423160" cy="329184"/>
          </a:xfrm>
          <a:prstGeom prst="roundRect">
            <a:avLst>
              <a:gd name="adj" fmla="val 16667"/>
            </a:avLst>
          </a:prstGeom>
          <a:solidFill>
            <a:srgbClr val="ECE6F8"/>
          </a:solidFill>
          <a:ln w="12700">
            <a:solidFill>
              <a:srgbClr val="8B7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57200" y="293522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→ Actuator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71800" y="2935224"/>
            <a:ext cx="2423160" cy="329184"/>
          </a:xfrm>
          <a:prstGeom prst="roundRect">
            <a:avLst>
              <a:gd name="adj" fmla="val 16667"/>
            </a:avLst>
          </a:prstGeom>
          <a:solidFill>
            <a:srgbClr val="E8F5DC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2971800" y="293522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 (4gb)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907943"/>
              </p:ext>
            </p:extLst>
          </p:nvPr>
        </p:nvGraphicFramePr>
        <p:xfrm>
          <a:off x="457200" y="3401568"/>
          <a:ext cx="4937760" cy="102412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 / weights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0.367 M · ~1.6 MB ONNX (CRNN)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62.78 M FLOPs / inference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wake 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0.249 M-param CNN · 1.0 MB (“Hello Jarvis”)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457200" y="4576273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on the Raspberry Pi 4</a:t>
            </a:r>
            <a:endParaRPr lang="en-US" dirty="0"/>
          </a:p>
        </p:txBody>
      </p:sp>
      <p:graphicFrame>
        <p:nvGraphicFramePr>
          <p:cNvPr id="2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949399"/>
              </p:ext>
            </p:extLst>
          </p:nvPr>
        </p:nvGraphicFramePr>
        <p:xfrm>
          <a:off x="457200" y="4850593"/>
          <a:ext cx="4937761" cy="257251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Wake / intent acc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 wake (5,000 clips) / 91.6 % intent (test) · 88.6 % holdout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False-accept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0.13 % wake FAR · 26.1 % FAR_oos @ min_conf 0.25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p95 / RTF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9.36 ms classify · 4.85 ms wake (on-Pi) / RTF 0.006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sessions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 wakes · 94 % recognized · 63 % acted ok ·  Oct 16 gate: 9/10 fired · 1 false fires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onnxruntime</a:t>
                      </a: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(CPU) · 2 threads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63181"/>
                  </a:ext>
                </a:extLst>
              </a:tr>
            </a:tbl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5760720" y="1463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082884"/>
              </p:ext>
            </p:extLst>
          </p:nvPr>
        </p:nvGraphicFramePr>
        <p:xfrm>
          <a:off x="5760720" y="1783080"/>
          <a:ext cx="4572000" cy="18592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 airimonda/ai231-me2-voice-commands + supplementals (6 sources merged)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/ utts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 h / 36,604 clips: 29,836 train (17.3 h) · 6,305 test · 463 holdout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Speakers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664 (speaker-disjoint splits)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intents · 37 fine (slot) labels · OOS 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 18"/>
          <p:cNvSpPr txBox="1"/>
          <p:nvPr/>
        </p:nvSpPr>
        <p:spPr>
          <a:xfrm>
            <a:off x="5760720" y="378569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Apple MPS (local Mac)</a:t>
            </a:r>
            <a:endParaRPr lang="en-US" dirty="0"/>
          </a:p>
        </p:txBody>
      </p:sp>
      <p:graphicFrame>
        <p:nvGraphicFramePr>
          <p:cNvPr id="2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133831"/>
              </p:ext>
            </p:extLst>
          </p:nvPr>
        </p:nvGraphicFramePr>
        <p:xfrm>
          <a:off x="5760720" y="4060018"/>
          <a:ext cx="4572000" cy="235915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M-series · torch MPS backend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CE(fine) + 0.5·CE(intent) · label smoothing 0.05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 wd 1e-4 · lr 1e-3 cosine · batch 128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 / loss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epochs · seed 42 / 0.65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~2.5 h wall-clock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kHz → log-mel 40×96 · z-scored · energy-norm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Text 20"/>
          <p:cNvSpPr txBox="1"/>
          <p:nvPr/>
        </p:nvSpPr>
        <p:spPr>
          <a:xfrm>
            <a:off x="9326880" y="7132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1 /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Submitted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2279" y="3404425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reviewer will look for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020043"/>
              </p:ext>
            </p:extLst>
          </p:nvPr>
        </p:nvGraphicFramePr>
        <p:xfrm>
          <a:off x="452279" y="3713226"/>
          <a:ext cx="9784080" cy="3529584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 public, one-command reproduction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setup.sh + run.sh — verified on the Pi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licensed and citable (DOI)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 dataset → citable DOI: 10.57967/hf/10723</a:t>
                      </a: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logs + final checkpoint committed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train_crnn.jsonl · crnn.pt · onnx/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4 latency reproduced by the posted script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perf.py bench/wake · p95 9.36 ms VCM · 4.85 ms wake (100+100)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 test set, unseen speakers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6,305 + holdout 463, speaker-disjoint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of comparable size compared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deployed model (CRNN 0.367 M); no baseline trained yet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2279" y="112852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artefacts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5395"/>
              </p:ext>
            </p:extLst>
          </p:nvPr>
        </p:nvGraphicFramePr>
        <p:xfrm>
          <a:off x="452279" y="1461897"/>
          <a:ext cx="9784080" cy="17373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Artefact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repository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</a:t>
                      </a:r>
                      <a:r>
                        <a:rPr lang="en-US" sz="18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github.com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r>
                        <a:rPr lang="en-US" sz="18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vrosero</a:t>
                      </a: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/AI231_MEx — public, MIT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location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huggingface.co/datasets/airimonda/ai231-me2-voice-commands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hardware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M-series MPS (local Mac) · 60 epochs · seed 42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weights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crnn.pt + crnn.onnx (~1.6 MB) · jarvis_cnn.onnx (1.0 MB)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98385" y="7277291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say “Hello Jarvis” → Jarvis responds “Yes” → say command → action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9326880" y="7132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2 /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567</Words>
  <Application>Microsoft Macintosh PowerPoint</Application>
  <PresentationFormat>Custom</PresentationFormat>
  <Paragraphs>95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VCM — Voice Controlled Smart Device</dc:title>
  <dc:subject>PptxGenJS Presentation</dc:subject>
  <dc:creator>PptxGenJS</dc:creator>
  <cp:lastModifiedBy>El Veena Grace Rosero</cp:lastModifiedBy>
  <cp:revision>5</cp:revision>
  <dcterms:created xsi:type="dcterms:W3CDTF">2026-10-17T01:42:42Z</dcterms:created>
  <dcterms:modified xsi:type="dcterms:W3CDTF">2026-10-17T09:41:22Z</dcterms:modified>
</cp:coreProperties>
</file>